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Clips</c:v>
                </c:pt>
              </c:strCache>
            </c:strRef>
          </c:tx>
          <c:spPr>
            <a:solidFill>
              <a:srgbClr val="3776FF"/>
            </a:solidFill>
          </c:spPr>
          <c:dLbls>
            <c:txPr>
              <a:bodyPr/>
              <a:lstStyle/>
              <a:p>
                <a:pPr>
                  <a:defRPr sz="11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Angry</c:v>
                </c:pt>
                <c:pt idx="1">
                  <c:v>Disgust</c:v>
                </c:pt>
                <c:pt idx="2">
                  <c:v>Fear</c:v>
                </c:pt>
                <c:pt idx="3">
                  <c:v>Happy</c:v>
                </c:pt>
                <c:pt idx="4">
                  <c:v>Neutral</c:v>
                </c:pt>
                <c:pt idx="5">
                  <c:v>Sad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1271</c:v>
                </c:pt>
                <c:pt idx="1">
                  <c:v>1271</c:v>
                </c:pt>
                <c:pt idx="2">
                  <c:v>1271</c:v>
                </c:pt>
                <c:pt idx="3">
                  <c:v>1271</c:v>
                </c:pt>
                <c:pt idx="4">
                  <c:v>1087</c:v>
                </c:pt>
                <c:pt idx="5">
                  <c:v>1270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Clips</c:v>
                </c:pt>
              </c:strCache>
            </c:strRef>
          </c:tx>
          <c:spPr>
            <a:solidFill>
              <a:srgbClr val="15AD9E"/>
            </a:solidFill>
          </c:spPr>
          <c:dLbls>
            <c:txPr>
              <a:bodyPr/>
              <a:lstStyle/>
              <a:p>
                <a:pPr>
                  <a:defRPr sz="12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5228</c:v>
                </c:pt>
                <c:pt idx="1">
                  <c:v>1066</c:v>
                </c:pt>
                <c:pt idx="2">
                  <c:v>1147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Speech Emotion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1907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BE7F7"/>
                </a:solidFill>
                <a:latin typeface="Aptos"/>
              </a:rPr>
              <a:t>Project summary deck covering dataset work, data quality checks, preprocessing, and GPU-ready training setup.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937760"/>
            <a:ext cx="1828800" cy="960120"/>
          </a:xfrm>
          <a:prstGeom prst="roundRect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657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76672"/>
            <a:ext cx="1554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Real-time emotion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937760"/>
            <a:ext cx="1554480" cy="960120"/>
          </a:xfrm>
          <a:prstGeom prst="roundRect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506577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5376672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Local desktop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937760"/>
            <a:ext cx="1920240" cy="960120"/>
          </a:xfrm>
          <a:prstGeom prst="roundRect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50657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5376672"/>
            <a:ext cx="1645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Emotion +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Project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Build a production-minded speech emotion recognition pipeline that can take live speech, identify the dominant emotion, and support a future desktop real-time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91693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76FF"/>
                </a:solidFill>
                <a:latin typeface="Aptos"/>
              </a:rPr>
              <a:t>Why this project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227832"/>
            <a:ext cx="32461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It combines speech processing, data quality work, reproducible ML pipelines, and real-time inference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7889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91693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AD9E"/>
                </a:solidFill>
                <a:latin typeface="Aptos"/>
              </a:rPr>
              <a:t>Current V1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3227832"/>
            <a:ext cx="32461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Controlled desktop environment, six emotion classes, and a clean training pipeline before advanced model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78892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291693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555"/>
                </a:solidFill>
                <a:latin typeface="Aptos"/>
              </a:rPr>
              <a:t>Delivery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3227832"/>
            <a:ext cx="30175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Start with a solid baseline, validate results, then expand toward real-time inference and model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Dataset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109728" cy="1005840"/>
          </a:xfrm>
          <a:prstGeom prst="rect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0759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Raw clips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7,441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14300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143000"/>
            <a:ext cx="109728" cy="1005840"/>
          </a:xfrm>
          <a:prstGeom prst="rect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30759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Speakers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91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14300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57800" y="1143000"/>
            <a:ext cx="109728" cy="1005840"/>
          </a:xfrm>
          <a:prstGeom prst="rect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130759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Processed clips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158191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7,435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143000"/>
            <a:ext cx="2651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1143000"/>
            <a:ext cx="109728" cy="1005840"/>
          </a:xfrm>
          <a:prstGeom prst="rect">
            <a:avLst/>
          </a:prstGeom>
          <a:solidFill>
            <a:srgbClr val="F6BD16"/>
          </a:solidFill>
          <a:ln>
            <a:solidFill>
              <a:srgbClr val="F6B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13075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Audio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15819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Mono / 16k / 16-bit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777240" y="2514600"/>
          <a:ext cx="59436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086600" y="2514600"/>
            <a:ext cx="4251960" cy="3200400"/>
          </a:xfrm>
          <a:prstGeom prst="round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2642616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953512"/>
            <a:ext cx="39776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1E8F3"/>
                </a:solidFill>
                <a:latin typeface="Aptos"/>
              </a:rPr>
              <a:t>The dataset is already well structured for supervised learning: fixed audio format, balanced class counts, and a manageable number of speakers for speaker-disjoint evaluation.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Project Workflow</a:t>
            </a:r>
          </a:p>
        </p:txBody>
      </p:sp>
      <p:sp>
        <p:nvSpPr>
          <p:cNvPr id="3" name="Chevron 2"/>
          <p:cNvSpPr/>
          <p:nvPr/>
        </p:nvSpPr>
        <p:spPr>
          <a:xfrm>
            <a:off x="594360" y="2377440"/>
            <a:ext cx="1737360" cy="1051560"/>
          </a:xfrm>
          <a:prstGeom prst="chevron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267919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Raw Audio</a:t>
            </a:r>
          </a:p>
        </p:txBody>
      </p:sp>
      <p:sp>
        <p:nvSpPr>
          <p:cNvPr id="5" name="Chevron 4"/>
          <p:cNvSpPr/>
          <p:nvPr/>
        </p:nvSpPr>
        <p:spPr>
          <a:xfrm>
            <a:off x="2221991" y="2377440"/>
            <a:ext cx="1737360" cy="1051560"/>
          </a:xfrm>
          <a:prstGeom prst="chevron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86584" y="267919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Manifest</a:t>
            </a:r>
          </a:p>
        </p:txBody>
      </p:sp>
      <p:sp>
        <p:nvSpPr>
          <p:cNvPr id="7" name="Chevron 6"/>
          <p:cNvSpPr/>
          <p:nvPr/>
        </p:nvSpPr>
        <p:spPr>
          <a:xfrm>
            <a:off x="3849623" y="2377440"/>
            <a:ext cx="1737360" cy="1051560"/>
          </a:xfrm>
          <a:prstGeom prst="chevron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14215" y="267919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9" name="Chevron 8"/>
          <p:cNvSpPr/>
          <p:nvPr/>
        </p:nvSpPr>
        <p:spPr>
          <a:xfrm>
            <a:off x="5477255" y="2377440"/>
            <a:ext cx="1737360" cy="1051560"/>
          </a:xfrm>
          <a:prstGeom prst="chevron">
            <a:avLst/>
          </a:prstGeom>
          <a:solidFill>
            <a:srgbClr val="F6BD16"/>
          </a:solidFill>
          <a:ln>
            <a:solidFill>
              <a:srgbClr val="F6B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41847" y="267919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Preprocess</a:t>
            </a:r>
          </a:p>
        </p:txBody>
      </p:sp>
      <p:sp>
        <p:nvSpPr>
          <p:cNvPr id="11" name="Chevron 10"/>
          <p:cNvSpPr/>
          <p:nvPr/>
        </p:nvSpPr>
        <p:spPr>
          <a:xfrm>
            <a:off x="7104887" y="2377440"/>
            <a:ext cx="1737360" cy="1051560"/>
          </a:xfrm>
          <a:prstGeom prst="chevron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79" y="2679192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Train</a:t>
            </a:r>
          </a:p>
        </p:txBody>
      </p:sp>
      <p:sp>
        <p:nvSpPr>
          <p:cNvPr id="13" name="Chevron 12"/>
          <p:cNvSpPr/>
          <p:nvPr/>
        </p:nvSpPr>
        <p:spPr>
          <a:xfrm>
            <a:off x="8732519" y="2377440"/>
            <a:ext cx="1783080" cy="1051560"/>
          </a:xfrm>
          <a:prstGeom prst="chevron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1" y="267919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Real-time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28853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76FF"/>
                </a:solidFill>
                <a:latin typeface="Aptos"/>
              </a:rPr>
              <a:t>What was 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99432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Manifest generation, data audit, duplicate handling, preprocessing, GPU training notebook, and train.py CLI.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1605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428853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AD9E"/>
                </a:solidFill>
                <a:latin typeface="Aptos"/>
              </a:rPr>
              <a:t>What is ready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4599432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A processed dataset and a repeatable training path that can later feed a real-time inference script.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1605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428853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555"/>
                </a:solidFill>
                <a:latin typeface="Aptos"/>
              </a:rPr>
              <a:t>What comes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4599432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Install PyTorch locally, run the baseline training, measure performance, then move to inference and product polish.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Speaker-Disjoint Split Strategy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417320"/>
          <a:ext cx="58521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508760"/>
            <a:ext cx="4069080" cy="1097280"/>
          </a:xfrm>
          <a:prstGeom prst="round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96912" y="1636776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96912" y="1947672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6F5"/>
                </a:solidFill>
                <a:latin typeface="Aptos"/>
              </a:rPr>
              <a:t>5,228 clips
64 speakers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743200"/>
            <a:ext cx="4069080" cy="1097280"/>
          </a:xfrm>
          <a:prstGeom prst="roundRect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2871216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3182112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1,066 clips
13 speakers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977639"/>
            <a:ext cx="4069080" cy="1097280"/>
          </a:xfrm>
          <a:prstGeom prst="roundRect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4105655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4416551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1,147 clips
14 speakers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34924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858"/>
                </a:solidFill>
                <a:latin typeface="Aptos"/>
              </a:rPr>
              <a:t>Reason for this strategy: it prevents the model from memorizing speaker traits across splits and gives a more honest estimate of generalization.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Data Audit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9728" cy="960120"/>
          </a:xfrm>
          <a:prstGeom prst="rect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3990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Missing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673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23444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1234440"/>
            <a:ext cx="109728" cy="960120"/>
          </a:xfrm>
          <a:prstGeom prst="rect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3990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Unreadable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673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23444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0" y="1234440"/>
            <a:ext cx="109728" cy="960120"/>
          </a:xfrm>
          <a:prstGeom prst="rect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13990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Split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1673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23444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234440"/>
            <a:ext cx="109728" cy="960120"/>
          </a:xfrm>
          <a:prstGeom prst="rect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7" y="13990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Duplicate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7" y="16733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46888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468880"/>
            <a:ext cx="109728" cy="960120"/>
          </a:xfrm>
          <a:prstGeom prst="rect">
            <a:avLst/>
          </a:prstGeom>
          <a:solidFill>
            <a:srgbClr val="F6BD16"/>
          </a:solidFill>
          <a:ln>
            <a:solidFill>
              <a:srgbClr val="F6B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6334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Duration outliers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90779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163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246888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63240" y="2468880"/>
            <a:ext cx="109728" cy="960120"/>
          </a:xfrm>
          <a:prstGeom prst="rect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4408" y="263347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Audit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4408" y="290779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242316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25511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ptos"/>
              </a:rPr>
              <a:t>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2862072"/>
            <a:ext cx="521208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The dataset is fundamentally healthy. The only notable quality issue is a very small set of exact duplicate audio pairs, which were handled conservatively during preprocessing.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977639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04858"/>
                </a:solidFill>
                <a:latin typeface="Aptos"/>
              </a:rPr>
              <a:t>Duration summary
Median 2.50 s | 95th percentile 3.47 s | Max 5.005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Preprocessing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25880"/>
            <a:ext cx="1920240" cy="1097280"/>
          </a:xfrm>
          <a:prstGeom prst="round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Raw manifest + AudioWAV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325880"/>
            <a:ext cx="1920240" cy="1097280"/>
          </a:xfrm>
          <a:prstGeom prst="roundRect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538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647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Exclude exact duplicate 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1325880"/>
            <a:ext cx="1920240" cy="1097280"/>
          </a:xfrm>
          <a:prstGeom prst="roundRect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4538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Standardize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647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Mono 16k PCM
Light normalization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9168" y="1325880"/>
            <a:ext cx="1920240" cy="1097280"/>
          </a:xfrm>
          <a:prstGeom prst="roundRect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4538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Write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7647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processed_audio/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1325880"/>
            <a:ext cx="1920240" cy="1097280"/>
          </a:xfrm>
          <a:prstGeom prst="roundRect">
            <a:avLst/>
          </a:prstGeom>
          <a:solidFill>
            <a:srgbClr val="F6BD16"/>
          </a:solidFill>
          <a:ln>
            <a:solidFill>
              <a:srgbClr val="F6B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4538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ptos"/>
              </a:rPr>
              <a:t>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7647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01828"/>
                </a:solidFill>
                <a:latin typeface="Aptos"/>
              </a:rPr>
              <a:t>processed_audio_manifest.csv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10896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108960"/>
            <a:ext cx="109728" cy="1005840"/>
          </a:xfrm>
          <a:prstGeom prst="rect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3273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Processed clips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5478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7,435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10896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3108960"/>
            <a:ext cx="109728" cy="1005840"/>
          </a:xfrm>
          <a:prstGeom prst="rect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3048" y="3273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Excluded duplicates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3048" y="35478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6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10896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108960"/>
            <a:ext cx="109728" cy="1005840"/>
          </a:xfrm>
          <a:prstGeom prst="rect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73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Failed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5478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310896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3108960"/>
            <a:ext cx="109728" cy="1005840"/>
          </a:xfrm>
          <a:prstGeom prst="rect">
            <a:avLst/>
          </a:prstGeom>
          <a:solidFill>
            <a:srgbClr val="F6BD16"/>
          </a:solidFill>
          <a:ln>
            <a:solidFill>
              <a:srgbClr val="F6B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3273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4858"/>
                </a:solidFill>
                <a:latin typeface="Aptos"/>
              </a:rPr>
              <a:t>Output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35478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6634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1828"/>
                </a:solidFill>
                <a:latin typeface="Aptos"/>
              </a:rPr>
              <a:t>Result: the project now has a clean, reproducible processed dataset and a manifest that is ready for model training.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1828"/>
                </a:solidFill>
                <a:latin typeface="Aptos"/>
              </a:rPr>
              <a:t>Training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3154680" cy="4434840"/>
          </a:xfrm>
          <a:prstGeom prst="round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408176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Baseline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719072"/>
            <a:ext cx="2880360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1E8F3"/>
                </a:solidFill>
                <a:latin typeface="Aptos"/>
              </a:rPr>
              <a:t>Processed audio -&gt; log spectrogram -&gt; compact 2D CNN -&gt; emotion prediction
Artifacts planned:
checkpoint
training history
metrics summary
classification report
confusion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40817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76FF"/>
                </a:solidFill>
                <a:latin typeface="Aptos"/>
              </a:rPr>
              <a:t>Notebook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1719072"/>
            <a:ext cx="3017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notebooks/train_baseline_gpu.ipynb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47472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360273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AD9E"/>
                </a:solidFill>
                <a:latin typeface="Aptos"/>
              </a:rPr>
              <a:t>CLI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3913632"/>
            <a:ext cx="3017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train.py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280160"/>
            <a:ext cx="3474720" cy="4114800"/>
          </a:xfrm>
          <a:prstGeom prst="roundRect">
            <a:avLst/>
          </a:prstGeom>
          <a:solidFill>
            <a:srgbClr val="F3F7FC"/>
          </a:solidFill>
          <a:ln>
            <a:solidFill>
              <a:srgbClr val="F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40817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555"/>
                </a:solidFill>
                <a:latin typeface="Aptos"/>
              </a:rPr>
              <a:t>Current blocker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719072"/>
            <a:ext cx="320040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This sandbox does not have PyTorch installed, so the code could be written and checked structurally, but not trained here yet.
Next action on the user's machine:
install CUDA-enabled PyTorch and run the training entrypoint.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What Has Been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45389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76FF"/>
                </a:solidFill>
                <a:latin typeface="Aptos"/>
              </a:rPr>
              <a:t>Manifest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764792"/>
            <a:ext cx="26517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scripts/create_audio_manifest.py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32588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3672" y="145389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AD9E"/>
                </a:solidFill>
                <a:latin typeface="Aptos"/>
              </a:rPr>
              <a:t>Audit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1764792"/>
            <a:ext cx="26517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scripts/audit_dataset.py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32588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45389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555"/>
                </a:solidFill>
                <a:latin typeface="Aptos"/>
              </a:rPr>
              <a:t>Preprocessing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1764792"/>
            <a:ext cx="26517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notebooks/preprocess_audio.ipynb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55701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BD16"/>
                </a:solidFill>
                <a:latin typeface="Aptos"/>
              </a:rPr>
              <a:t>Training notebook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867912"/>
            <a:ext cx="26517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notebooks/train_baseline_gpu.ipynb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4290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355701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76FF"/>
                </a:solidFill>
                <a:latin typeface="Aptos"/>
              </a:rPr>
              <a:t>CLI training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3867912"/>
            <a:ext cx="26517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train.py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34290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355701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AD9E"/>
                </a:solidFill>
                <a:latin typeface="Aptos"/>
              </a:rPr>
              <a:t>Project handoff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867912"/>
            <a:ext cx="26517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04858"/>
                </a:solidFill>
                <a:latin typeface="Aptos"/>
              </a:rPr>
              <a:t>skill.md + context.md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594360"/>
            <a:ext cx="11201400" cy="5577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3776FF"/>
          </a:solidFill>
          <a:ln>
            <a:solidFill>
              <a:srgbClr val="37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9260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Install CUDA PyTorch</a:t>
            </a:r>
          </a:p>
        </p:txBody>
      </p:sp>
      <p:sp>
        <p:nvSpPr>
          <p:cNvPr id="8" name="Chevron 7"/>
          <p:cNvSpPr/>
          <p:nvPr/>
        </p:nvSpPr>
        <p:spPr>
          <a:xfrm>
            <a:off x="2011680" y="2240280"/>
            <a:ext cx="868680" cy="320040"/>
          </a:xfrm>
          <a:prstGeom prst="chevr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11880" y="2057400"/>
            <a:ext cx="685800" cy="685800"/>
          </a:xfrm>
          <a:prstGeom prst="ellipse">
            <a:avLst/>
          </a:prstGeom>
          <a:solidFill>
            <a:srgbClr val="15AD9E"/>
          </a:solidFill>
          <a:ln>
            <a:solidFill>
              <a:srgbClr val="15A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1284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Run baseline training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4754880" y="2240280"/>
            <a:ext cx="868680" cy="320040"/>
          </a:xfrm>
          <a:prstGeom prst="chevr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057400"/>
            <a:ext cx="685800" cy="685800"/>
          </a:xfrm>
          <a:prstGeom prst="ellipse">
            <a:avLst/>
          </a:prstGeom>
          <a:solidFill>
            <a:srgbClr val="FF7555"/>
          </a:solidFill>
          <a:ln>
            <a:solidFill>
              <a:srgbClr val="FF7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1284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Review F1 and confusion matrix</a:t>
            </a:r>
          </a:p>
        </p:txBody>
      </p:sp>
      <p:sp>
        <p:nvSpPr>
          <p:cNvPr id="16" name="Chevron 15"/>
          <p:cNvSpPr/>
          <p:nvPr/>
        </p:nvSpPr>
        <p:spPr>
          <a:xfrm>
            <a:off x="7498079" y="2240280"/>
            <a:ext cx="868680" cy="320040"/>
          </a:xfrm>
          <a:prstGeom prst="chevr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98280" y="2057400"/>
            <a:ext cx="685800" cy="685800"/>
          </a:xfrm>
          <a:prstGeom prst="ellipse">
            <a:avLst/>
          </a:prstGeom>
          <a:solidFill>
            <a:srgbClr val="F6BD16"/>
          </a:solidFill>
          <a:ln>
            <a:solidFill>
              <a:srgbClr val="F6B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21284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9260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Build inference path for real time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00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The project now has a strong data and pipeline foundation. The next milestone is to train the first GPU baseline model and turn it into a usable emotion detection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00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849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